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Neon 발표를 시작하겠습니다. 저희는 지도 없이 집 안을 탐색해 사과를 모두 찾고 돌아오는 로봇을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로봇은 출발점에서 시작해 모르는 공간을 탐색하고, 목표 색 사과를 찾아 접근한 뒤 출발점으로 돌아와 처음 방향으로 정렬합니다. GPS와 나침반은 쓸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 코드는 빨간 사과 2개를 찾으면 바로 돌아오는 방식이었습니다. 개수를 모르는 상황에서 모두 찾으려면 탐색 효율이 중요해서, 목표 선택·지도·경로·사람 대응 네 가지를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지도를 갱신하고, Frontier 구역을 만들고, 점수로 목표를 고른 뒤 A*로 경로를 만들고 DWA로 주행합니다. 사람이 잠깐 지나가도 목표는 바꾸지 않고 DWA가 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목적지는 정보량, 경로비용, 재방문, 위험을 함께 따진 점수로 고릅니다. 가까워도 새로 볼 것이 없는 곳보다, 조금 멀어도 새 공간이 많이 보이는 곳을 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지도를 통과 가능·불가능 둘로만 나누지 않고, 벽에서 가까울수록 비용이 커지는 Costmap을 만들었습니다. 그 위에서 A*를 돌리면 넓은 길은 가운데로 가고, 대각선 모서리 충돌도 막을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 Display에 장애물, Costmap, Frontier, 선택한 목표, A* 경로, DWA 궤적을 색으로 구분해 보여줍니다. 오른쪽에 실제 실행 화면을 넣어 설명하면 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TEAM NEON  ·  2026 PNU CSE Tech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6035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사과를 모두 찾는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 탐색 로봇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EB6C2"/>
                </a:solidFill>
                <a:latin typeface="맑은 고딕"/>
                <a:ea typeface="맑은 고딕"/>
                <a:cs typeface="맑은 고딕"/>
              </a:rPr>
              <a:t>TurtleBot3 Burger · Webots R2025a
사전 지도 없이 탐색하고, 찾고, 돌아온다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71816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28431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5048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41664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98280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54896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11512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8128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24744" y="146304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81965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71816" y="181965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1965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85048" y="181965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1664" y="181965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81965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54896" y="181965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11512" y="181965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68128" y="1819656"/>
            <a:ext cx="310896" cy="3108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24744" y="1819656"/>
            <a:ext cx="310896" cy="3108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176272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71816" y="2176272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2176272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5048" y="2176272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41664" y="2176272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176272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54896" y="2176272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11512" y="2176272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68128" y="2176272"/>
            <a:ext cx="310896" cy="3108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2532888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71816" y="2532888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28431" y="2532888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5048" y="2532888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41664" y="2532888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2532888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54896" y="2532888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11512" y="2532888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8128" y="2532888"/>
            <a:ext cx="310896" cy="3108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2889504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71816" y="2889504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28431" y="2889504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85048" y="2889504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41664" y="2889504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98280" y="2889504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54896" y="2889504"/>
            <a:ext cx="310896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11512" y="2889504"/>
            <a:ext cx="310896" cy="31089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68128" y="2889504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5200" y="3246120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71816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28431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85048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41664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54896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11512" y="3246120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168128" y="3246120"/>
            <a:ext cx="310896" cy="3108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15200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71816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28431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85048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41664" y="360273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3602736"/>
            <a:ext cx="310896" cy="310896"/>
          </a:xfrm>
          <a:prstGeom prst="rect">
            <a:avLst/>
          </a:prstGeom>
          <a:solidFill>
            <a:srgbClr val="3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54896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11512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68128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24744" y="3602736"/>
            <a:ext cx="310896" cy="310896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074152" y="2221991"/>
            <a:ext cx="219456" cy="21945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0" y="4206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C8594"/>
                </a:solidFill>
                <a:latin typeface="맑은 고딕"/>
                <a:ea typeface="맑은 고딕"/>
                <a:cs typeface="맑은 고딕"/>
              </a:rPr>
              <a:t>실제 지도 Display를 단순화한 모습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미션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지도도, 사과 위치도, 사과 개수도 모르는 상태에서 시작합니다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출발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7" y="2532888"/>
            <a:ext cx="274320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210312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0FA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미지 공간
탐색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73168" y="2532888"/>
            <a:ext cx="274320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210312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0FA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사과 발견
· 접근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13448" y="2532888"/>
            <a:ext cx="274320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210312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출발점
복귀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53728" y="2532888"/>
            <a:ext cx="274320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210312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시작 방향
정렬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4206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A3B9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LiDAR · 카메라 · IMU · 휠 엔코더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977639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A3B9"/>
                </a:solidFill>
                <a:latin typeface="맑은 고딕"/>
                <a:ea typeface="맑은 고딕"/>
                <a:cs typeface="맑은 고딕"/>
              </a:rPr>
              <a:t>사용 금지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709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GPS · 나침반 · Ground truth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977639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4206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A3B9"/>
                </a:solidFill>
                <a:latin typeface="맑은 고딕"/>
                <a:ea typeface="맑은 고딕"/>
                <a:cs typeface="맑은 고딕"/>
              </a:rPr>
              <a:t>방해 요소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4709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디코이 사과 · 가구 · 보행자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사과 2개에서, 있는 사과 모두로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개수를 모르면 집 전체를 빠짐없이, 반복 없이 돌아봐야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A3B9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가장 가까운 Frontier 셀로 이동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2633472"/>
            <a:ext cx="347472" cy="274320"/>
          </a:xfrm>
          <a:prstGeom prst="rightArrow">
            <a:avLst/>
          </a:prstGeom>
          <a:solidFill>
            <a:srgbClr val="0FA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2377440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E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Frontier 구역 + 점수로 목적지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64992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통과 가능 / 불가능 이진 지도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3621024"/>
            <a:ext cx="347472" cy="274320"/>
          </a:xfrm>
          <a:prstGeom prst="rightArrow">
            <a:avLst/>
          </a:prstGeom>
          <a:solidFill>
            <a:srgbClr val="0FA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3364992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E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벽에서 멀수록 싼 연속 Costmap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52544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반경을 줄여 가며 BFS 재시도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4608576"/>
            <a:ext cx="347472" cy="274320"/>
          </a:xfrm>
          <a:prstGeom prst="rightArrow">
            <a:avLst/>
          </a:prstGeom>
          <a:solidFill>
            <a:srgbClr val="0FA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4352544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E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A* + 대각선 모서리 충돌 검사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0096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사람이 지나가면 목표 재계산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5596128"/>
            <a:ext cx="347472" cy="274320"/>
          </a:xfrm>
          <a:prstGeom prst="rightArrow">
            <a:avLst/>
          </a:prstGeom>
          <a:solidFill>
            <a:srgbClr val="0FA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5340096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E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DWA가 피하고, 막힐 때만 재계획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시스템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목표는 천천히, 주행은 빠르게: 전역 목표와 지역 회피를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지도·카메라
갱신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54096" y="2395728"/>
            <a:ext cx="347472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39" y="201168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Frontier
구역 생성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4456" y="2395728"/>
            <a:ext cx="347472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점수 평가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14816" y="2395728"/>
            <a:ext cx="347472" cy="274320"/>
          </a:xfrm>
          <a:prstGeom prst="righ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59" y="201168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22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Global Goal
고정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305288" y="3200400"/>
            <a:ext cx="274320" cy="347472"/>
          </a:xfrm>
          <a:prstGeom prst="down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360° 관찰
→ 다음 목표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3054096" y="4087368"/>
            <a:ext cx="347472" cy="274320"/>
          </a:xfrm>
          <a:prstGeom prst="lef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39" y="37033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목표 도달?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934456" y="4087368"/>
            <a:ext cx="347472" cy="274320"/>
          </a:xfrm>
          <a:prstGeom prst="lef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7033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DWA 주행
· 사람 회피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8814816" y="4087368"/>
            <a:ext cx="347472" cy="274320"/>
          </a:xfrm>
          <a:prstGeom prst="leftArrow">
            <a:avLst/>
          </a:prstGeom>
          <a:solidFill>
            <a:srgbClr val="8A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59" y="37033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Costmap
A*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Global Goal: 정보가 많은 구역 하나를 골라 최소 15초 유지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Global Path: Costmap 위 A*, 경로가 2초 이상 실제로 막혔을 때만 다시 계산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Local Planner: DWA가 매 순간 사람과 장애물을 피하거나 멈춤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목적지는 거리가 아니라 점수로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EB6C2"/>
                </a:solidFill>
                <a:latin typeface="맑은 고딕"/>
                <a:ea typeface="맑은 고딕"/>
                <a:cs typeface="맑은 고딕"/>
              </a:rPr>
              <a:t>갈 수 있으면서, 새로 볼 것이 많은 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1005840"/>
          </a:xfrm>
          <a:prstGeom prst="roundRect">
            <a:avLst>
              <a:gd name="adj" fmla="val 12000"/>
            </a:avLst>
          </a:prstGeom>
          <a:solidFill>
            <a:srgbClr val="1C2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score = 2.0 × 정보량  −  1.0 × 경로비용  −  1.5 × 재방문  −  2.0 × 위험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2542032" cy="2377440"/>
          </a:xfrm>
          <a:prstGeom prst="roundRect">
            <a:avLst>
              <a:gd name="adj" fmla="val 12000"/>
            </a:avLst>
          </a:prstGeom>
          <a:solidFill>
            <a:srgbClr val="1C2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+2.0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6C2"/>
                </a:solidFill>
                <a:latin typeface="맑은 고딕"/>
                <a:ea typeface="맑은 고딕"/>
                <a:cs typeface="맑은 고딕"/>
              </a:rPr>
              <a:t>반경 3 m 안에서 새로
보이는 미지 공간 넓이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3291840"/>
            <a:ext cx="2542032" cy="2377440"/>
          </a:xfrm>
          <a:prstGeom prst="roundRect">
            <a:avLst>
              <a:gd name="adj" fmla="val 12000"/>
            </a:avLst>
          </a:prstGeom>
          <a:solidFill>
            <a:srgbClr val="1C2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2B705"/>
                </a:solidFill>
                <a:latin typeface="맑은 고딕"/>
                <a:ea typeface="맑은 고딕"/>
                <a:cs typeface="맑은 고딕"/>
              </a:rPr>
              <a:t>−1.0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4343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경로비용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48006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6C2"/>
                </a:solidFill>
                <a:latin typeface="맑은 고딕"/>
                <a:ea typeface="맑은 고딕"/>
                <a:cs typeface="맑은 고딕"/>
              </a:rPr>
              <a:t>직선거리가 아닌
A* 실제 경로 비용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542032" cy="2377440"/>
          </a:xfrm>
          <a:prstGeom prst="roundRect">
            <a:avLst>
              <a:gd name="adj" fmla="val 12000"/>
            </a:avLst>
          </a:prstGeom>
          <a:solidFill>
            <a:srgbClr val="1C2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A5B4FC"/>
                </a:solidFill>
                <a:latin typeface="맑은 고딕"/>
                <a:ea typeface="맑은 고딕"/>
                <a:cs typeface="맑은 고딕"/>
              </a:rPr>
              <a:t>−1.5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343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재방문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48006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6C2"/>
                </a:solidFill>
                <a:latin typeface="맑은 고딕"/>
                <a:ea typeface="맑은 고딕"/>
                <a:cs typeface="맑은 고딕"/>
              </a:rPr>
              <a:t>여러 번 지나간
지역은 감점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3291840"/>
            <a:ext cx="2542032" cy="2377440"/>
          </a:xfrm>
          <a:prstGeom prst="roundRect">
            <a:avLst>
              <a:gd name="adj" fmla="val 12000"/>
            </a:avLst>
          </a:prstGeom>
          <a:solidFill>
            <a:srgbClr val="1C2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472B6"/>
                </a:solidFill>
                <a:latin typeface="맑은 고딕"/>
                <a:ea typeface="맑은 고딕"/>
                <a:cs typeface="맑은 고딕"/>
              </a:rPr>
              <a:t>−2.0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4343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48006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6C2"/>
                </a:solidFill>
                <a:latin typeface="맑은 고딕"/>
                <a:ea typeface="맑은 고딕"/>
                <a:cs typeface="맑은 고딕"/>
              </a:rPr>
              <a:t>벽·좁은 통로에
가까운 경로는 감점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Costmap + A*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넓은 길은 가운데로, 좁은 길은 필요할 때만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E8ECF2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장애물   ·   통과 불가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D72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충돌 경계   ·   통과 불가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C24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Inflation 0.55 m   ·   통과 가능 · 높은 비용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넓은 빈 공간   ·   낮은 비용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12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미지 공간   ·   통과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A3B9"/>
                </a:solidFill>
                <a:latin typeface="맑은 고딕"/>
                <a:ea typeface="맑은 고딕"/>
                <a:cs typeface="맑은 고딕"/>
              </a:rPr>
              <a:t>A* 이동 비용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423160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g(next) = g(cur) + 거리 × 평균 칸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747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칸 비용 = 1 + 4.0 × Inflation 위험 + 0.8 × 재방문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휴리스틱: 목표까지 직선거리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대각선 이동은 양옆 칸도 비었을 때만
→ 장애물 모서리를 관통하지 않음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판단 근거가 보이는 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로봇이 왜 그 목적지를 골랐는지 화면에서 바로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9384"/>
            <a:ext cx="310896" cy="310896"/>
          </a:xfrm>
          <a:prstGeom prst="rect">
            <a:avLst/>
          </a:prstGeom>
          <a:solidFill>
            <a:srgbClr val="E8ECF2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3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흰색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9202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장애물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04872"/>
            <a:ext cx="310896" cy="310896"/>
          </a:xfrm>
          <a:prstGeom prst="rect">
            <a:avLst/>
          </a:prstGeom>
          <a:solidFill>
            <a:srgbClr val="C2417A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95727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빨강 / 분홍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395727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충돌 경계 / Inflation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310896" cy="310896"/>
          </a:xfrm>
          <a:prstGeom prst="rect">
            <a:avLst/>
          </a:prstGeom>
          <a:solidFill>
            <a:srgbClr val="8A919C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71215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회색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71215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확인된 빈 공간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55848"/>
            <a:ext cx="310896" cy="310896"/>
          </a:xfrm>
          <a:prstGeom prst="rect">
            <a:avLst/>
          </a:prstGeom>
          <a:solidFill>
            <a:srgbClr val="121A26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346703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46703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미지 공간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31335"/>
            <a:ext cx="310896" cy="310896"/>
          </a:xfrm>
          <a:prstGeom prst="rect">
            <a:avLst/>
          </a:prstGeom>
          <a:solidFill>
            <a:srgbClr val="22D3EE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822191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청록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82219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Frontier 구역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06824"/>
            <a:ext cx="310896" cy="310896"/>
          </a:xfrm>
          <a:prstGeom prst="rect">
            <a:avLst/>
          </a:prstGeom>
          <a:solidFill>
            <a:srgbClr val="22A05B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976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초록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2976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Global Goal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82312"/>
            <a:ext cx="310896" cy="310896"/>
          </a:xfrm>
          <a:prstGeom prst="rect">
            <a:avLst/>
          </a:prstGeom>
          <a:solidFill>
            <a:srgbClr val="F2B705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노랑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A* 전역 경로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57799"/>
            <a:ext cx="310896" cy="310896"/>
          </a:xfrm>
          <a:prstGeom prst="rect">
            <a:avLst/>
          </a:prstGeom>
          <a:solidFill>
            <a:srgbClr val="F97316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248655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주황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248655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DWA 예상 궤적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33288"/>
            <a:ext cx="310896" cy="310896"/>
          </a:xfrm>
          <a:prstGeom prst="rect">
            <a:avLst/>
          </a:prstGeom>
          <a:solidFill>
            <a:srgbClr val="3B82F6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72414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파랑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7241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실제 이동 기록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874519"/>
            <a:ext cx="5212080" cy="40690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87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실행 화면 캡처를 여기에 넣어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